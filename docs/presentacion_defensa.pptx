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t>Detección de secretos en código y pipelines mediante reglas y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Ángela Ramírez Barajas</a:t>
            </a:r>
          </a:p>
          <a:p>
            <a:pPr>
              <a:defRPr sz="1800"/>
            </a:pPr>
            <a:r>
              <a:t>2ª Ed. Máster en IA Aplicada a la Ciberseguridad</a:t>
            </a:r>
          </a:p>
          <a:p>
            <a:pPr>
              <a:defRPr sz="1800"/>
            </a:pPr>
            <a:r>
              <a:t>Universidad Católica de Murcia (UCAM)</a:t>
            </a:r>
          </a:p>
          <a:p>
            <a:pPr>
              <a:defRPr sz="1800"/>
            </a:pPr>
            <a:r>
              <a:t>Director: Juanjo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1. Problema y motivación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Las credenciales se filtran en repositorios Git</a:t>
            </a:r>
          </a:p>
          <a:p>
            <a:pPr>
              <a:spcAft>
                <a:spcPts val="1200"/>
              </a:spcAft>
              <a:defRPr sz="1600"/>
            </a:pPr>
            <a:r>
              <a:t>• Los escáneres de reglas son rápidos, pero tratan igual un secreto real y un mock</a:t>
            </a:r>
          </a:p>
          <a:p>
            <a:pPr>
              <a:spcAft>
                <a:spcPts val="1200"/>
              </a:spcAft>
              <a:defRPr sz="1600"/>
            </a:pPr>
            <a:r>
              <a:t>• El ruido (falsos positivos) hace que los equipos desactiven la herramienta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2.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Gitleaks: regex + entropía, integrable en Git; muchos FP</a:t>
            </a:r>
          </a:p>
          <a:p>
            <a:pPr>
              <a:spcAft>
                <a:spcPts val="1200"/>
              </a:spcAft>
              <a:defRPr sz="1600"/>
            </a:pPr>
            <a:r>
              <a:t>• detect-secrets / TruffleHog: baseline manual o verificación en red</a:t>
            </a:r>
          </a:p>
          <a:p>
            <a:pPr>
              <a:spcAft>
                <a:spcPts val="1200"/>
              </a:spcAft>
              <a:defRPr sz="1600"/>
            </a:pPr>
            <a:r>
              <a:t>• LLM con fine-tuning (Rahman et al.): F1 alto, requiere entrenamiento</a:t>
            </a:r>
          </a:p>
          <a:p>
            <a:pPr>
              <a:spcAft>
                <a:spcPts val="1200"/>
              </a:spcAft>
              <a:defRPr sz="1600"/>
            </a:pPr>
            <a:r>
              <a:t>• Hueco: filtro local, sin LoRA, sobre un escáner ya desplegable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3. Solución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Gitleaks detecta; Llama 3.1 8B (Ollama) solo tria falsos positivos</a:t>
            </a:r>
          </a:p>
          <a:p>
            <a:pPr>
              <a:spcAft>
                <a:spcPts val="1200"/>
              </a:spcAft>
              <a:defRPr sz="1600"/>
            </a:pPr>
            <a:r>
              <a:t>• Los verdaderos positivos no se tocan: el recall de las reglas se conserva</a:t>
            </a:r>
          </a:p>
          <a:p>
            <a:pPr>
              <a:spcAft>
                <a:spcPts val="1200"/>
              </a:spcAft>
              <a:defRPr sz="1600"/>
            </a:pPr>
            <a:r>
              <a:t>• Sin fine-tuning ni API cloud</a:t>
            </a:r>
          </a:p>
        </p:txBody>
      </p:sp>
      <p:pic>
        <p:nvPicPr>
          <p:cNvPr id="4" name="Picture 3" descr="fig01_pipeline_hibr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023360" cy="1015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4. Desarrollo y decisiones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Prompt genérico: el modelo se fía del formato (34 % de acierto)</a:t>
            </a:r>
          </a:p>
          <a:p>
            <a:pPr>
              <a:spcAft>
                <a:spcPts val="1200"/>
              </a:spcAft>
              <a:defRPr sz="1600"/>
            </a:pPr>
            <a:r>
              <a:t>• Prompt contextual (test/mock/docs): 99 %, cero regresiones</a:t>
            </a:r>
          </a:p>
          <a:p>
            <a:pPr>
              <a:spcAft>
                <a:spcPts val="1200"/>
              </a:spcAft>
              <a:defRPr sz="1600"/>
            </a:pPr>
            <a:r>
              <a:t>• El LLM no va en cada commit: 5–15 s por candidato</a:t>
            </a:r>
          </a:p>
          <a:p>
            <a:pPr>
              <a:spcAft>
                <a:spcPts val="1200"/>
              </a:spcAft>
              <a:defRPr sz="1600"/>
            </a:pPr>
            <a:r>
              <a:t>• Muestra de 200 FP: alcance realista frente a 1.128 totales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5.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Gitleaks: precisión 85,85 % | recall 45,86 %</a:t>
            </a:r>
          </a:p>
          <a:p>
            <a:pPr>
              <a:spcAft>
                <a:spcPts val="1200"/>
              </a:spcAft>
              <a:defRPr sz="1600"/>
            </a:pPr>
            <a:r>
              <a:t>• Híbrido v2: 198/200 FP bien descartados</a:t>
            </a:r>
          </a:p>
          <a:p>
            <a:pPr>
              <a:spcAft>
                <a:spcPts val="1200"/>
              </a:spcAft>
              <a:defRPr sz="1600"/>
            </a:pPr>
            <a:r>
              <a:t>• Precisión proyectada 99,97 %; recall igual (el LLM no es un detector)</a:t>
            </a:r>
          </a:p>
          <a:p>
            <a:pPr>
              <a:spcAft>
                <a:spcPts val="1200"/>
              </a:spcAft>
              <a:defRPr sz="1600"/>
            </a:pPr>
            <a:r>
              <a:t>• Comparación justa: Gitleaks, no el F1 de papers con LoRA</a:t>
            </a:r>
          </a:p>
        </p:txBody>
      </p:sp>
      <p:pic>
        <p:nvPicPr>
          <p:cNvPr id="4" name="Picture 3" descr="fig02_precision_compa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023360" cy="2559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6. Conclusiones y 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El valor está en el prompt de contexto, no en «añadir un LLM»</a:t>
            </a:r>
          </a:p>
          <a:p>
            <a:pPr>
              <a:spcAft>
                <a:spcPts val="1200"/>
              </a:spcAft>
              <a:defRPr sz="1600"/>
            </a:pPr>
            <a:r>
              <a:t>• Limitación: muestra parcial; el recall de las reglas no mejora</a:t>
            </a:r>
          </a:p>
          <a:p>
            <a:pPr>
              <a:spcAft>
                <a:spcPts val="1200"/>
              </a:spcAft>
              <a:defRPr sz="1600"/>
            </a:pPr>
            <a:r>
              <a:t>• Siguiente paso: más FP, documentación inline, latencia en 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